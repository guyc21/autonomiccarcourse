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Autonomous Car Course</a:t>
            </a:r>
          </a:p>
          <a:p>
            <a:r>
              <a:t>Lane Detection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Theory and Architecture Presentation</a:t>
            </a:r>
          </a:p>
          <a:p>
            <a:r>
              <a:t>10-12 Slides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Perception Problem in Autonomous Driving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vehicles must perceive road geometry to navigate safely.</a:t>
            </a:r>
          </a:p>
          <a:p>
            <a:pPr lvl="1"/>
            <a:r>
              <a:t>Challenges in Lane Detection:</a:t>
            </a:r>
          </a:p>
          <a:p>
            <a:pPr lvl="2"/>
            <a:r>
              <a:t>Dynamic lighting and deep shadows</a:t>
            </a:r>
          </a:p>
          <a:p>
            <a:pPr lvl="2"/>
            <a:r>
              <a:t>Faded or missing road markings</a:t>
            </a:r>
          </a:p>
          <a:p>
            <a:pPr lvl="2"/>
            <a:r>
              <a:t>Occlusions from other vehicles</a:t>
            </a:r>
          </a:p>
          <a:p>
            <a:pPr lvl="1"/>
            <a:r>
              <a:t>Our solution: A robust, multi-stage classical computer vision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end-to-end processing steps:</a:t>
            </a:r>
          </a:p>
          <a:p>
            <a:pPr lvl="1"/>
            <a:r>
              <a:t>1. Color &amp; Gradient Feature Extraction</a:t>
            </a:r>
          </a:p>
          <a:p>
            <a:pPr lvl="1"/>
            <a:r>
              <a:t>2. Region of Interest (ROI) Masking</a:t>
            </a:r>
          </a:p>
          <a:p>
            <a:pPr lvl="1"/>
            <a:r>
              <a:t>3. Perspective Transform (Bird's Eye View)</a:t>
            </a:r>
          </a:p>
          <a:p>
            <a:pPr lvl="1"/>
            <a:r>
              <a:t>4. Hough Transform &amp; Histogram Peak Detection</a:t>
            </a:r>
          </a:p>
          <a:p>
            <a:pPr lvl="1"/>
            <a:r>
              <a:t>5. Sliding Window Poly-Fitting</a:t>
            </a:r>
          </a:p>
          <a:p>
            <a:pPr lvl="1"/>
            <a:r>
              <a:t>6. Temporal Smoothing &amp; Curvature Math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Space &amp; Contrast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Moving away from RGB limitations:</a:t>
            </a:r>
          </a:p>
          <a:p>
            <a:pPr lvl="1"/>
            <a:r>
              <a:t>HLS Color Space: Separates lightness from color information, highly invariant to shadows.</a:t>
            </a:r>
          </a:p>
          <a:p>
            <a:pPr lvl="1"/>
            <a:r>
              <a:t>Saturation (S) Channel: Excellent for tracking yellow and white lines.</a:t>
            </a:r>
          </a:p>
          <a:p>
            <a:pPr lvl="1"/>
            <a:r>
              <a:t>CLAHE Application: Contrast Limited Adaptive Histogram Equalization boosts local contrast in shadowed regions without blowing out highlights.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&amp; Edge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Extracting structural boundaries:</a:t>
            </a:r>
          </a:p>
          <a:p>
            <a:pPr lvl="1"/>
            <a:r>
              <a:t>Gaussian Blur: Eliminates high-frequency noise.</a:t>
            </a:r>
          </a:p>
          <a:p>
            <a:pPr lvl="1"/>
            <a:r>
              <a:t>Sobel-X Operator: Detects steep intensity gradients in the x-direction (vertical lines).</a:t>
            </a:r>
          </a:p>
          <a:p>
            <a:pPr lvl="1"/>
            <a:r>
              <a:t>Canny Edge Detector: Computes edges using dynamic hysteresis thresholding based on local median pixel intensity.</a:t>
            </a:r>
          </a:p>
          <a:p>
            <a:pPr lvl="1"/>
            <a:r>
              <a:t>The resulting binary map fuses color and gradient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 Transform (Bird's-Eye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Removing perspective distortion:</a:t>
            </a:r>
          </a:p>
          <a:p>
            <a:pPr lvl="1"/>
            <a:r>
              <a:t>A homography matrix (M) maps a trapezoidal ROI in the camera view to a rectangle.</a:t>
            </a:r>
          </a:p>
          <a:p>
            <a:pPr lvl="1"/>
            <a:r>
              <a:t>Benefits of top-down projection:</a:t>
            </a:r>
          </a:p>
          <a:p>
            <a:pPr lvl="2"/>
            <a:r>
              <a:t>Parallel lane lines actually appear parallel.</a:t>
            </a:r>
          </a:p>
          <a:p>
            <a:pPr lvl="2"/>
            <a:r>
              <a:t>Enables accurate polynomial fitting.</a:t>
            </a:r>
          </a:p>
          <a:p>
            <a:pPr lvl="2"/>
            <a:r>
              <a:t>Allows uniform pixel-to-meter scaling for curvature calculation.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Hough Transform &amp; Base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Finding the starting points of the lanes:</a:t>
            </a:r>
          </a:p>
          <a:p>
            <a:pPr lvl="1"/>
            <a:r>
              <a:t>Probabilistic Hough Transform extracts line segments from the binary edges.</a:t>
            </a:r>
          </a:p>
          <a:p>
            <a:pPr lvl="1"/>
            <a:r>
              <a:t>Column-wise Histogram aggregates white pixel density along the bottom half of the image.</a:t>
            </a:r>
          </a:p>
          <a:p>
            <a:pPr lvl="1"/>
            <a:r>
              <a:t>The algorithm cross-references histogram peaks with Hough segment intercepts to select the true left and right lane bases.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Sliding Window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Tracing the lane up the image:</a:t>
            </a:r>
          </a:p>
          <a:p>
            <a:pPr lvl="1"/>
            <a:r>
              <a:t>Divides the image into 12 horizontal bands.</a:t>
            </a:r>
          </a:p>
          <a:p>
            <a:pPr lvl="1"/>
            <a:r>
              <a:t>Places rectangular windows at the left and right bases.</a:t>
            </a:r>
          </a:p>
          <a:p>
            <a:pPr lvl="1"/>
            <a:r>
              <a:t>Calculates the center of mass of non-zero pixels inside the window.</a:t>
            </a:r>
          </a:p>
          <a:p>
            <a:pPr lvl="1"/>
            <a:r>
              <a:t>Shifts the window for the next horizontal band to follow the curve of the lane.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Fitting &amp; Outlier Rejection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Mathematical modeling of the lanes:</a:t>
            </a:r>
          </a:p>
          <a:p>
            <a:pPr lvl="1"/>
            <a:r>
              <a:t>Fits a 2nd degree polynomial: x = a*y^2 + b*y + c</a:t>
            </a:r>
          </a:p>
          <a:p>
            <a:pPr lvl="1"/>
            <a:r>
              <a:t>Statistical Outlier Rejection:</a:t>
            </a:r>
          </a:p>
          <a:p>
            <a:pPr lvl="2"/>
            <a:r>
              <a:t>Calculates residuals of all pixels against the initial fit.</a:t>
            </a:r>
          </a:p>
          <a:p>
            <a:pPr lvl="2"/>
            <a:r>
              <a:t>Discards pixels beyond the 75th percentile error limit.</a:t>
            </a:r>
          </a:p>
          <a:p>
            <a:pPr lvl="2"/>
            <a:r>
              <a:t>Refits the polynomial for a perfectly smooth curve.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Lane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Handling dashed lines or heavy occlusions:</a:t>
            </a:r>
          </a:p>
          <a:p>
            <a:pPr lvl="1"/>
            <a:r>
              <a:t>If one side fails validation (e.g., hidden by a truck), the system infers its position.</a:t>
            </a:r>
          </a:p>
          <a:p>
            <a:pPr lvl="1"/>
            <a:r>
              <a:t>Takes the valid polynomial from the visible side.</a:t>
            </a:r>
          </a:p>
          <a:p>
            <a:pPr lvl="1"/>
            <a:r>
              <a:t>Shifts the 'c' intercept coefficient by the historically known lane width (approx. 3.7 meters).</a:t>
            </a:r>
          </a:p>
          <a:p>
            <a:pPr lvl="1"/>
            <a:r>
              <a:t>Maintains tracking safely until the line becomes visible again.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Temporal Smoothing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a fluid visual experience:</a:t>
            </a:r>
          </a:p>
          <a:p>
            <a:pPr lvl="1"/>
            <a:r>
              <a:t>Frame-by-frame processing is jittery.</a:t>
            </a:r>
          </a:p>
          <a:p>
            <a:pPr lvl="1"/>
            <a:r>
              <a:t>Deque History: Stores the N most recent polynomial coefficients.</a:t>
            </a:r>
          </a:p>
          <a:p>
            <a:pPr lvl="1"/>
            <a:r>
              <a:t>Final Render: A weighted average (low-pass filter) of the historical fits.</a:t>
            </a:r>
          </a:p>
          <a:p>
            <a:pPr lvl="1"/>
            <a:r>
              <a:t>Validates the left and right curves together to ensure they remain perfectly parallel.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Output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Finalizing the pipeline:</a:t>
            </a:r>
          </a:p>
          <a:p>
            <a:pPr lvl="1"/>
            <a:r>
              <a:t>Calculates the physical Radius of Curvature using calculus on the polynomial equations.</a:t>
            </a:r>
          </a:p>
          <a:p>
            <a:pPr lvl="1"/>
            <a:r>
              <a:t>Draws the lane area in green and applies the Inverse Perspective Matrix (Minv) to unwarp it back to camera view.</a:t>
            </a:r>
          </a:p>
          <a:p>
            <a:pPr lvl="1"/>
            <a:r>
              <a:t>Alpha-blends the resulting graphics onto the original video feed for a cohesive autonomous driving visualization.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